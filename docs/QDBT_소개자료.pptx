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QDBT는 조달 견적 비교를 자동화하는 내부 도구입니다. 표지에서는 '여러 업체 견적을 동일 기준으로 공정 비교'라는 핵심 가치를 전달합니다. 세 태그(추출·매칭·비교)가 전체 발표의 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 문제를 짚습니다: 수작업 비효율, 제각각 양식, 통화 혼재, 숨은 리스크. 청중이 '우리도 겪는 문제'로 공감하게 만드는 슬라이드입니다. 뒤에서 각 문제에 대응하는 해결책이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5단계 파이프라인을 한눈에 보여줍니다. 핵심 메시지는 '반복은 자동화, 판단은 사람'. 각 단계는 뒤 슬라이드에서 구체화됩니다.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역량은 슬라이드 2의 네 문제와 1:1 대응합니다: 추출↔양식 혼재, 매칭↔용어 불일치, 통화 통일↔환율 혼재, 감사추적↔숨은 리스크. 이 대응 관계를 말로 짚어주면 설득력이 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차별점의 핵심입니다. '구조=코드, 의미=AI' 원칙과, 서로 다르게 적힌 GPU 서버가 하나로 묶이는 실제 예시를 보여줍니다. 경영진에게는 '왜 이게 신뢰할 만한가'의 근거가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정량(시간 단축·통화 통일)과 정성(공정성·감사·협상력·확장성) 효과를 나눠 제시합니다. 숫자는 보수적으로 '수 시간→수 분'으로 표현했습니다. 실제 도입 후 측정치가 있으면 이 자리에 넣으면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확장성을 강조합니다. IT는 현재 적용, 설비·용역은 같은 엔진으로 확장 가능. 핵심은 '재개발 없이 설정으로 확장'이라는 점 — 도메인별 기준정보 분리 설계 덕분입니다.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마무리는 세 단어로 압축: 자동화·공정성·확장성. 표지의 세 태그와 수미상관을 이룹니다. 질의응답으로 자연스럽게 넘어가는 클로징 슬라이드입니다.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1371600"/>
            <a:ext cx="5943600" cy="59436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2194560"/>
            <a:ext cx="4754880" cy="4754880"/>
          </a:xfrm>
          <a:prstGeom prst="ellipse">
            <a:avLst/>
          </a:prstGeom>
          <a:solidFill>
            <a:srgbClr val="21A0A0">
              <a:alpha val="14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9281160" y="1234440"/>
            <a:ext cx="2194560" cy="2194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1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조달 견적 비교 도구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22402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QDBT</a:t>
            </a:r>
            <a:endParaRPr lang="en-US" sz="8800" dirty="0"/>
          </a:p>
        </p:txBody>
      </p:sp>
      <p:sp>
        <p:nvSpPr>
          <p:cNvPr id="7" name="Text 4"/>
          <p:cNvSpPr/>
          <p:nvPr/>
        </p:nvSpPr>
        <p:spPr>
          <a:xfrm>
            <a:off x="777240" y="3794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7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업체의 입찰 견적서를 자동으로 정규화하고,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7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품목 기준으로 공정하게 비교하는 의사결정 지원 시스템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2578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52728" y="52395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다형식 견적 추출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525780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133088" y="52395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품목 자동 매칭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5257800"/>
            <a:ext cx="365760" cy="3657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013448" y="52395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원화 기준 통일 비교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77724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도메인 지원 · IT · 설비 · 용역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필요한가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11535" y="3474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8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견적 비교는 왜 이렇게 오래 걸리고, 왜 종종 틀리는가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업체마다 양식·분류·용어·통화가 제각각이라, 사람이 수작업으로 맞춰 비교하는 과정에서 시간과 정확성이 동시에 희생됩니다.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52578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2496312"/>
            <a:ext cx="868680" cy="868680"/>
          </a:xfrm>
          <a:prstGeom prst="ellipse">
            <a:avLst/>
          </a:prstGeom>
          <a:solidFill>
            <a:srgbClr val="E0A458">
              <a:alpha val="14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706624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03120" y="24414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수작업의 비효율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2103120" y="288036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업체별 엑셀·PDF를 일일이 열어 품목을 대조·정렬. 한 건 비교에 수 시간이 소요됩니다.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46520" y="2148840"/>
            <a:ext cx="52578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766560" y="2496312"/>
            <a:ext cx="868680" cy="868680"/>
          </a:xfrm>
          <a:prstGeom prst="ellipse">
            <a:avLst/>
          </a:prstGeom>
          <a:solidFill>
            <a:srgbClr val="D96C5F">
              <a:alpha val="14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872" y="2706624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863840" y="24414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제각각인 양식·용어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7863840" y="288036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'GPU Server'와 'GPU 가속 서버', 서로 다른 분류 깊이. 같은 물건이 다르게 적혀 비교가 어긋납니다.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85800" y="4270248"/>
            <a:ext cx="52578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005840" y="4617720"/>
            <a:ext cx="868680" cy="868680"/>
          </a:xfrm>
          <a:prstGeom prst="ellipse">
            <a:avLst/>
          </a:prstGeom>
          <a:solidFill>
            <a:srgbClr val="1C7293">
              <a:alpha val="14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4828032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103120" y="456285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통화·환율 혼재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2103120" y="5001768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USD·CNY·KRW가 섞인 견적을 환산 없이 비교하면 최저가 판정이 왜곡됩니다.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446520" y="4270248"/>
            <a:ext cx="52578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3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766560" y="4617720"/>
            <a:ext cx="868680" cy="868680"/>
          </a:xfrm>
          <a:prstGeom prst="ellipse">
            <a:avLst/>
          </a:prstGeom>
          <a:solidFill>
            <a:srgbClr val="0B3C5D">
              <a:alpha val="14000"/>
            </a:srgbClr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872" y="4828032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863840" y="456285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숨은 판단 리스크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7863840" y="5001768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수작업 대조는 누락·착오를 낳고, 근거가 남지 않아 의사결정을 사후 검증하기 어렵습니다.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무엇인가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11535" y="3474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8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A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QDBT</a:t>
            </a:r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는 견적 비교의 전 과정을 하나의 흐름으로 자동화합니다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E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업로드 한 번으로 추출·정규화·매칭·비교까지. 사람은 판단이 필요한 지점에만 개입합니다.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59156" y="251460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0B3C5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9216" y="2834640"/>
            <a:ext cx="1005840" cy="1005840"/>
          </a:xfrm>
          <a:prstGeom prst="ellipse">
            <a:avLst/>
          </a:prstGeom>
          <a:solidFill>
            <a:srgbClr val="21A0A0">
              <a:alpha val="2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528" y="3044952"/>
            <a:ext cx="585216" cy="5852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3748" y="26609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A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0596" y="39319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견적서 업로드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0596" y="43616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엑셀·PDF·워드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260" y="3557016"/>
            <a:ext cx="292608" cy="29260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836012" y="251460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0B3C5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316072" y="2834640"/>
            <a:ext cx="1005840" cy="1005840"/>
          </a:xfrm>
          <a:prstGeom prst="ellipse">
            <a:avLst/>
          </a:prstGeom>
          <a:solidFill>
            <a:srgbClr val="21A0A0">
              <a:alpha val="20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384" y="3044952"/>
            <a:ext cx="585216" cy="5852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000604" y="26609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A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2927452" y="39319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추출·정규화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2927452" y="43616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구조·통화·환율</a:t>
            </a:r>
            <a:endParaRPr lang="en-US" sz="11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1116" y="3557016"/>
            <a:ext cx="292608" cy="29260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112868" y="251460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0B3C5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592928" y="2834640"/>
            <a:ext cx="1005840" cy="1005840"/>
          </a:xfrm>
          <a:prstGeom prst="ellipse">
            <a:avLst/>
          </a:prstGeom>
          <a:solidFill>
            <a:srgbClr val="21A0A0">
              <a:alpha val="20000"/>
            </a:srgbClr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3240" y="3044952"/>
            <a:ext cx="585216" cy="58521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77460" y="26609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A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5204308" y="39319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품목 매칭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5204308" y="43616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클러스터링</a:t>
            </a:r>
            <a:endParaRPr lang="en-US" sz="11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7972" y="3557016"/>
            <a:ext cx="292608" cy="292608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7389724" y="251460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0B3C5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7869784" y="2834640"/>
            <a:ext cx="1005840" cy="1005840"/>
          </a:xfrm>
          <a:prstGeom prst="ellipse">
            <a:avLst/>
          </a:prstGeom>
          <a:solidFill>
            <a:srgbClr val="21A0A0">
              <a:alpha val="20000"/>
            </a:srgbClr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0096" y="3044952"/>
            <a:ext cx="585216" cy="58521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554316" y="26609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A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2"/>
          <p:cNvSpPr/>
          <p:nvPr/>
        </p:nvSpPr>
        <p:spPr>
          <a:xfrm>
            <a:off x="7481164" y="39319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원화 기준 비교</a:t>
            </a:r>
            <a:endParaRPr lang="en-US" sz="1400" dirty="0"/>
          </a:p>
        </p:txBody>
      </p:sp>
      <p:sp>
        <p:nvSpPr>
          <p:cNvPr id="32" name="Text 23"/>
          <p:cNvSpPr/>
          <p:nvPr/>
        </p:nvSpPr>
        <p:spPr>
          <a:xfrm>
            <a:off x="7481164" y="43616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공정한 최저가</a:t>
            </a:r>
            <a:endParaRPr lang="en-US" sz="11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4828" y="3557016"/>
            <a:ext cx="292608" cy="292608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9666580" y="251460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0B3C5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Shape 25"/>
          <p:cNvSpPr/>
          <p:nvPr/>
        </p:nvSpPr>
        <p:spPr>
          <a:xfrm>
            <a:off x="10146640" y="2834640"/>
            <a:ext cx="1005840" cy="1005840"/>
          </a:xfrm>
          <a:prstGeom prst="ellipse">
            <a:avLst/>
          </a:prstGeom>
          <a:solidFill>
            <a:srgbClr val="21A0A0">
              <a:alpha val="20000"/>
            </a:srgbClr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56952" y="3044952"/>
            <a:ext cx="585216" cy="585216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9831172" y="26609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A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8" name="Text 27"/>
          <p:cNvSpPr/>
          <p:nvPr/>
        </p:nvSpPr>
        <p:spPr>
          <a:xfrm>
            <a:off x="9758020" y="39319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있는 결정</a:t>
            </a:r>
            <a:endParaRPr lang="en-US" sz="1400" dirty="0"/>
          </a:p>
        </p:txBody>
      </p:sp>
      <p:sp>
        <p:nvSpPr>
          <p:cNvPr id="39" name="Text 28"/>
          <p:cNvSpPr/>
          <p:nvPr/>
        </p:nvSpPr>
        <p:spPr>
          <a:xfrm>
            <a:off x="9758020" y="43616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이력·감사 추적</a:t>
            </a:r>
            <a:endParaRPr lang="en-US" sz="1100" dirty="0"/>
          </a:p>
        </p:txBody>
      </p:sp>
      <p:sp>
        <p:nvSpPr>
          <p:cNvPr id="40" name="Text 29"/>
          <p:cNvSpPr/>
          <p:nvPr/>
        </p:nvSpPr>
        <p:spPr>
          <a:xfrm>
            <a:off x="685800" y="53949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1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사람의 개입은 '판단'에만 — 반복 작업은 시스템이, 최종 결정은 담당자가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하는가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11535" y="3474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8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네 가지 핵심 역량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앞서 짚은 네 가지 문제에 정확히 대응합니다.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228600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21A0A0">
              <a:alpha val="16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5146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48840" y="22860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지능형 추출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148840" y="27889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엑셀은 열 매핑으로 정확하게, PDF·워드는 AI로 유연하게. 어떤 양식이든 구조화된 데이터로 변환합니다.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46520" y="196596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766560" y="228600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1C7293">
              <a:alpha val="16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5146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909560" y="22860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품목 매칭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909560" y="27889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영문·한글·약어·수식어 차이를 넘어 같은 품목을 자동으로 묶습니다. 서로 다른 분류 깊이도 사용자가 정한 기준으로 정합합니다.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85800" y="420624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005840" y="45262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3FA372">
              <a:alpha val="16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475488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148840" y="45262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통화 통일 비교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2148840" y="50292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USD·CNY 등 외화를 환율 역산으로 원화로 환산해, 이종 통화가 섞여도 공정하게 최저가를 판정합니다.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446520" y="420624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3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766560" y="45262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0F2A43">
              <a:alpha val="16000"/>
            </a:srgbClr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475488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909560" y="45262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근거와 감사 추적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7909560" y="50292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근거·가격 이력이 남아 의사결정을 사후 검증할 수 있습니다. 권한별 접근으로 통제됩니다.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다른가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11535" y="3474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8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핵심은 '공정한 비교 기준'을 지키는 설계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자동화를 넘어, 비교가 왜곡되지 않도록 데이터를 다루는 방식 자체를 설계했습니다.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5257800" cy="4023360"/>
          </a:xfrm>
          <a:prstGeom prst="roundRect">
            <a:avLst>
              <a:gd name="adj" fmla="val 2273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38100" dir="5400000">
              <a:srgbClr val="0F2A43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33172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원칙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2880360"/>
            <a:ext cx="713232" cy="713232"/>
          </a:xfrm>
          <a:prstGeom prst="ellipse">
            <a:avLst/>
          </a:prstGeom>
          <a:solidFill>
            <a:srgbClr val="21A0A0">
              <a:alpha val="22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3044952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84248" y="28620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구조는 코드로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984248" y="320954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셀·병합·번호 계층·금액 파싱처럼 규칙이 명확한 일은 코드가 정확하게 처리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1097280" y="3904488"/>
            <a:ext cx="713232" cy="713232"/>
          </a:xfrm>
          <a:prstGeom prst="ellipse">
            <a:avLst/>
          </a:prstGeom>
          <a:solidFill>
            <a:srgbClr val="21A0A0">
              <a:alpha val="22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406908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84248" y="3886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의미는 AI로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984248" y="423367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영한 번역·유사 품목 판단처럼 언어적 이해가 필요한 일은 AI가 담당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280" y="4928616"/>
            <a:ext cx="713232" cy="713232"/>
          </a:xfrm>
          <a:prstGeom prst="ellipse">
            <a:avLst/>
          </a:prstGeom>
          <a:solidFill>
            <a:srgbClr val="21A0A0">
              <a:alpha val="22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509320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84248" y="49103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비교는 지정 레벨로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984248" y="52578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정한 비교 단위(잎/중분류)를 업체마다 정합시켜 사과 대 사과로 비교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63640" y="2011680"/>
            <a:ext cx="521208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3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6675120" y="2331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품목, 이렇게 묶입니다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720840" y="2926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A상사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45820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Server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720840" y="34930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D엔지니어링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458200" y="34930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Server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6720840" y="405993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E시스템즈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458200" y="405993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가속 서버</a:t>
            </a:r>
            <a:endParaRPr lang="en-US" sz="12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686800" y="4709160"/>
            <a:ext cx="365760" cy="36576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6720840" y="5212080"/>
            <a:ext cx="4297680" cy="658368"/>
          </a:xfrm>
          <a:prstGeom prst="roundRect">
            <a:avLst>
              <a:gd name="adj" fmla="val 11111"/>
            </a:avLst>
          </a:prstGeom>
          <a:solidFill>
            <a:srgbClr val="E8F1F5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2008" y="5376672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406640" y="52120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비교 항목 = 'GPU 서버'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무엇이 좋아지는가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11535" y="3474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8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시간은 줄고, 판단은 정확해집니다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85800" y="173736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A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 시간 → 수 분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13232" y="2514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건 비교 소요 시간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285292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대조를 자동화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333756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A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원화 기준 통일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13232" y="41148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이종 통화 비교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445312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환율 역산으로 왜곡 제거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0" y="1737360"/>
            <a:ext cx="4663440" cy="3977640"/>
          </a:xfrm>
          <a:prstGeom prst="roundRect">
            <a:avLst>
              <a:gd name="adj" fmla="val 2299"/>
            </a:avLst>
          </a:prstGeom>
          <a:solidFill>
            <a:srgbClr val="0B3C5D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69480" y="1965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밖의 효과</a:t>
            </a:r>
            <a:endParaRPr lang="en-US" sz="13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2569464"/>
            <a:ext cx="402336" cy="40233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863840" y="25146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공정성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E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기준 비교로 업체 선정의 객관성 확보</a:t>
            </a:r>
            <a:endParaRPr lang="en-US" sz="14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346704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863840" y="32918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대응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E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근거·가격 이력이 남아 사후 검증 가능</a:t>
            </a:r>
            <a:endParaRPr lang="en-US" sz="14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123944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863840" y="4069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협상력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E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 대비 가격 추이로 협상 근거 확보</a:t>
            </a:r>
            <a:endParaRPr lang="en-US" sz="14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901184"/>
            <a:ext cx="402336" cy="4023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863840" y="48463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확장성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E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IT를 넘어 설비·용역 등 전 도메인 적용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어디까지 쓰는가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11535" y="3474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8E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IT에서 시작해, 전 조달 도메인으로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도메인별 기준정보를 분리 설계해, 같은 엔진으로 다양한 조달 영역을 다룹니다.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95148" y="2148840"/>
            <a:ext cx="3429000" cy="2880360"/>
          </a:xfrm>
          <a:prstGeom prst="roundRect">
            <a:avLst>
              <a:gd name="adj" fmla="val 3175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69568" y="2560320"/>
            <a:ext cx="1280160" cy="1280160"/>
          </a:xfrm>
          <a:prstGeom prst="ellipse">
            <a:avLst/>
          </a:prstGeom>
          <a:solidFill>
            <a:srgbClr val="1C7293">
              <a:alpha val="28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3888" y="2834640"/>
            <a:ext cx="731520" cy="731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8028" y="3977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장비·구축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15188" y="44348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E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서버·스토리지·네트워크·SW 및 구축 인력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478128" y="22951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1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적용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81348" y="2148840"/>
            <a:ext cx="342900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55768" y="2560320"/>
            <a:ext cx="1280160" cy="1280160"/>
          </a:xfrm>
          <a:prstGeom prst="ellipse">
            <a:avLst/>
          </a:prstGeom>
          <a:solidFill>
            <a:srgbClr val="21A0A0">
              <a:alpha val="16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088" y="2834640"/>
            <a:ext cx="731520" cy="7315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64228" y="3977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701388" y="44348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기계·전기·공조 등 설비 조달 견적 비교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267548" y="2148840"/>
            <a:ext cx="342900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8E3EA"/>
            </a:solidFill>
            <a:prstDash val="solid"/>
          </a:ln>
          <a:effectLst>
            <a:outerShdw sx="100000" sy="100000" kx="0" ky="0" algn="bl" rotWithShape="0" blurRad="88900" dist="38100" dir="5400000">
              <a:srgbClr val="0F2A43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341968" y="2560320"/>
            <a:ext cx="1280160" cy="1280160"/>
          </a:xfrm>
          <a:prstGeom prst="ellipse">
            <a:avLst/>
          </a:prstGeom>
          <a:solidFill>
            <a:srgbClr val="3FA372">
              <a:alpha val="16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6288" y="2834640"/>
            <a:ext cx="731520" cy="7315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50428" y="3977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용역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587588" y="44348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인력·유지보수·서비스 계약 비교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85800" y="54406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기준정보는 전 도메인이 공유하고, 도메인 전용 항목만 분리 — 확장 시 재개발 없이 설정으로 대응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5486400" cy="5486400"/>
          </a:xfrm>
          <a:prstGeom prst="ellipse">
            <a:avLst/>
          </a:prstGeom>
          <a:solidFill>
            <a:srgbClr val="1C7293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645920"/>
            <a:ext cx="4572000" cy="4572000"/>
          </a:xfrm>
          <a:prstGeom prst="ellipse">
            <a:avLst/>
          </a:prstGeom>
          <a:solidFill>
            <a:srgbClr val="21A0A0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1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제각각인 견적을,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하나의 공정한 기준으로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77240" y="3794760"/>
            <a:ext cx="868680" cy="868680"/>
          </a:xfrm>
          <a:prstGeom prst="ellipse">
            <a:avLst/>
          </a:prstGeom>
          <a:solidFill>
            <a:srgbClr val="21A0A0">
              <a:alpha val="24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4014216"/>
            <a:ext cx="429768" cy="4297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380390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828800" y="42245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추출·정규화·매칭·비교를 하나의 흐름으로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80560" y="3794760"/>
            <a:ext cx="868680" cy="868680"/>
          </a:xfrm>
          <a:prstGeom prst="ellipse">
            <a:avLst/>
          </a:prstGeom>
          <a:solidFill>
            <a:srgbClr val="21A0A0">
              <a:alpha val="24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4014216"/>
            <a:ext cx="429768" cy="4297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380390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공정성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532120" y="42245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품목·원화 기준으로 왜곡 없는 비교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83880" y="3794760"/>
            <a:ext cx="868680" cy="868680"/>
          </a:xfrm>
          <a:prstGeom prst="ellipse">
            <a:avLst/>
          </a:prstGeom>
          <a:solidFill>
            <a:srgbClr val="21A0A0">
              <a:alpha val="24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4014216"/>
            <a:ext cx="429768" cy="4297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235440" y="380390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확장성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9235440" y="42245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IT를 넘어 전 조달 도메인으로 확장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77240" y="5440680"/>
            <a:ext cx="106070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77240" y="5623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QDBT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3291840" y="574243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조달 견적 비교 도구 · 의사결정 지원 시스템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QDBT — 조달 견적 비교 도구</dc:title>
  <dc:subject>PptxGenJS Presentation</dc:subject>
  <dc:creator>QDBT</dc:creator>
  <cp:lastModifiedBy>QDBT</cp:lastModifiedBy>
  <cp:revision>1</cp:revision>
  <dcterms:created xsi:type="dcterms:W3CDTF">2026-07-03T08:35:39Z</dcterms:created>
  <dcterms:modified xsi:type="dcterms:W3CDTF">2026-07-03T08:35:39Z</dcterms:modified>
</cp:coreProperties>
</file>